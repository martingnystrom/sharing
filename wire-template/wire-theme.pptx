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2C5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C5FD1"/>
                </a:solidFill>
                <a:latin typeface="IBM Plex Sans"/>
              </a:rPr>
              <a:t>[Document series or category]  ·  [Date]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83464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4000" b="1">
                <a:solidFill>
                  <a:srgbClr val="12181F"/>
                </a:solidFill>
                <a:latin typeface="IBM Plex Sans"/>
              </a:rPr>
              <a:t>[Headline stating the conclusion, not the topic]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126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7626D"/>
                </a:solidFill>
                <a:latin typeface="IBM Plex Sans"/>
              </a:rPr>
              <a:t>Prepared by M. Nystrom — [Practice / team] · Distribution: [Internal/External]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C5FD1"/>
                </a:solidFill>
                <a:latin typeface="IBM Plex Sans"/>
              </a:rPr>
              <a:t>[Document series or category]  ·  [Date] · [Distribution]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188720"/>
            <a:ext cx="10515600" cy="18288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011680"/>
            <a:ext cx="10515600" cy="2377440"/>
          </a:xfrm>
          <a:prstGeom prst="rect">
            <a:avLst/>
          </a:prstGeom>
          <a:solidFill>
            <a:srgbClr val="EE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2011680"/>
            <a:ext cx="73152" cy="2377440"/>
          </a:xfrm>
          <a:prstGeom prst="rect">
            <a:avLst/>
          </a:prstGeom>
          <a:solidFill>
            <a:srgbClr val="2C5F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24028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C5FD1"/>
                </a:solidFill>
                <a:latin typeface="IBM Plex Sans"/>
              </a:rPr>
              <a:t>BOTTOM 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651760"/>
            <a:ext cx="9692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2000" b="0">
                <a:solidFill>
                  <a:srgbClr val="12181F"/>
                </a:solidFill>
                <a:latin typeface="IBM Plex Sans"/>
              </a:rPr>
              <a:t>One to three sentences: the actual takeaway, stated plainly, and what it implies for the reader.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126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7626D"/>
                </a:solidFill>
                <a:latin typeface="IBM Plex Sans"/>
              </a:rPr>
              <a:t>Prepared by M. Nystrom — [Practice / team] · Distribution: [Internal/External]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2181F"/>
                </a:solidFill>
                <a:latin typeface="IBM Plex Sans"/>
              </a:rPr>
              <a:t>[Section heading]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234440"/>
            <a:ext cx="10515600" cy="18288"/>
          </a:xfrm>
          <a:prstGeom prst="rect">
            <a:avLst/>
          </a:prstGeom>
          <a:solidFill>
            <a:srgbClr val="D8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800" b="0">
                <a:solidFill>
                  <a:srgbClr val="12181F"/>
                </a:solidFill>
                <a:latin typeface="IBM Plex Sans"/>
              </a:rPr>
              <a:t>[Point one — keep it to a single, complete idea]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800" b="0">
                <a:solidFill>
                  <a:srgbClr val="12181F"/>
                </a:solidFill>
                <a:latin typeface="IBM Plex Sans"/>
              </a:rPr>
              <a:t>[Point two — evidence or reasoning, not just a topic label]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800" b="0">
                <a:solidFill>
                  <a:srgbClr val="12181F"/>
                </a:solidFill>
                <a:latin typeface="IBM Plex Sans"/>
              </a:rPr>
              <a:t>[Point three — what it implies or what happens next]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309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7626D"/>
                </a:solidFill>
                <a:latin typeface="IBM Plex Sans"/>
              </a:rPr>
              <a:t>Prepared by M. Nystrom — [Practice / team] · Distribution: [Internal/External]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12181F"/>
                </a:solidFill>
                <a:latin typeface="IBM Plex Sans"/>
              </a:rPr>
              <a:t>[Signals / action items]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554480"/>
          <a:ext cx="105156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46320"/>
                <a:gridCol w="1737360"/>
                <a:gridCol w="3931920"/>
              </a:tblGrid>
              <a:tr h="9601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C5FD1"/>
                          </a:solidFill>
                          <a:latin typeface="IBM Plex Sans"/>
                        </a:rPr>
                        <a:t>Item or signal</a:t>
                      </a:r>
                    </a:p>
                  </a:txBody>
                  <a:tcPr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C5FD1"/>
                          </a:solidFill>
                          <a:latin typeface="IBM Plex Sans"/>
                        </a:rPr>
                        <a:t>Confidence</a:t>
                      </a:r>
                    </a:p>
                  </a:txBody>
                  <a:tcPr>
                    <a:solidFill>
                      <a:srgbClr val="EEF2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C5FD1"/>
                          </a:solidFill>
                          <a:latin typeface="IBM Plex Sans"/>
                        </a:rPr>
                        <a:t>Recommended action</a:t>
                      </a:r>
                    </a:p>
                  </a:txBody>
                  <a:tcPr>
                    <a:solidFill>
                      <a:srgbClr val="EEF2FC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2181F"/>
                          </a:solidFill>
                          <a:latin typeface="IBM Plex Sans"/>
                        </a:rPr>
                        <a:t>[Item or signal]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2181F"/>
                          </a:solidFill>
                          <a:latin typeface="IBM Plex Sans"/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2181F"/>
                          </a:solidFill>
                          <a:latin typeface="IBM Plex Sans"/>
                        </a:rPr>
                        <a:t>[Recommended action]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2181F"/>
                          </a:solidFill>
                          <a:latin typeface="IBM Plex Sans"/>
                        </a:rPr>
                        <a:t>[Item or signal]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2181F"/>
                          </a:solidFill>
                          <a:latin typeface="IBM Plex Sans"/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2181F"/>
                          </a:solidFill>
                          <a:latin typeface="IBM Plex Sans"/>
                        </a:rPr>
                        <a:t>[Recommended action]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2181F"/>
                          </a:solidFill>
                          <a:latin typeface="IBM Plex Sans"/>
                        </a:rPr>
                        <a:t>[Item or signal]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2181F"/>
                          </a:solidFill>
                          <a:latin typeface="IBM Plex Sans"/>
                        </a:rP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2181F"/>
                          </a:solidFill>
                          <a:latin typeface="IBM Plex Sans"/>
                        </a:rPr>
                        <a:t>[Recommended action]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22960" y="6309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7626D"/>
                </a:solidFill>
                <a:latin typeface="IBM Plex Sans"/>
              </a:rPr>
              <a:t>Prepared by M. Nystrom — [Practice / team] · Distribution: [Internal/External]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2181F"/>
      </a:dk1>
      <a:lt1>
        <a:sysClr val="window" lastClr="FFFFFF"/>
      </a:lt1>
      <a:dk2>
        <a:srgbClr val="12181F"/>
      </a:dk2>
      <a:lt2>
        <a:srgbClr val="EEF2FC"/>
      </a:lt2>
      <a:accent1>
        <a:srgbClr val="2C5FD1"/>
      </a:accent1>
      <a:accent2>
        <a:srgbClr val="57626D"/>
      </a:accent2>
      <a:accent3>
        <a:srgbClr val="6C97F2"/>
      </a:accent3>
      <a:accent4>
        <a:srgbClr val="8C99A8"/>
      </a:accent4>
      <a:accent5>
        <a:srgbClr val="17233A"/>
      </a:accent5>
      <a:accent6>
        <a:srgbClr val="D8DEE6"/>
      </a:accent6>
      <a:hlink>
        <a:srgbClr val="2C5FD1"/>
      </a:hlink>
      <a:folHlink>
        <a:srgbClr val="57626D"/>
      </a:folHlink>
    </a:clrScheme>
    <a:fontScheme name="Office">
      <a:majorFont>
        <a:latin typeface="IBM Plex 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BM Plex 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